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16197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2360" y="-1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09290" y="350841"/>
            <a:ext cx="512064" cy="1737360"/>
          </a:xfrm>
          <a:prstGeom prst="roundRect">
            <a:avLst/>
          </a:prstGeom>
          <a:solidFill>
            <a:srgbClr val="FFE7A5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264408" y="854964"/>
            <a:ext cx="164592" cy="585216"/>
          </a:xfrm>
          <a:prstGeom prst="roundRect">
            <a:avLst/>
          </a:prstGeom>
          <a:solidFill>
            <a:srgbClr val="FFE7A5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7660" y="367792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202124"/>
                </a:solidFill>
                <a:latin typeface="Arial Black"/>
              </a:rP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66361" y="1037111"/>
            <a:ext cx="29718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4400" b="1" dirty="0">
                <a:solidFill>
                  <a:srgbClr val="202124"/>
                </a:solidFill>
                <a:latin typeface="Arial Black"/>
              </a:rPr>
              <a:t>W</a:t>
            </a:r>
            <a:r>
              <a:rPr sz="4400" b="1" dirty="0">
                <a:solidFill>
                  <a:srgbClr val="202124"/>
                </a:solidFill>
                <a:latin typeface="Arial Black"/>
              </a:rPr>
              <a:t>ith AI</a:t>
            </a:r>
          </a:p>
        </p:txBody>
      </p:sp>
      <p:sp>
        <p:nvSpPr>
          <p:cNvPr id="6" name="Hexagon 5"/>
          <p:cNvSpPr/>
          <p:nvPr/>
        </p:nvSpPr>
        <p:spPr>
          <a:xfrm>
            <a:off x="6505955" y="484632"/>
            <a:ext cx="566928" cy="566928"/>
          </a:xfrm>
          <a:prstGeom prst="hexagon">
            <a:avLst/>
          </a:prstGeom>
          <a:solidFill>
            <a:srgbClr val="4285F4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Diamond 6"/>
          <p:cNvSpPr/>
          <p:nvPr/>
        </p:nvSpPr>
        <p:spPr>
          <a:xfrm>
            <a:off x="6638440" y="621792"/>
            <a:ext cx="274320" cy="274320"/>
          </a:xfrm>
          <a:prstGeom prst="diamond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05471" y="302261"/>
            <a:ext cx="512064" cy="1737360"/>
          </a:xfrm>
          <a:prstGeom prst="roundRect">
            <a:avLst/>
          </a:prstGeom>
          <a:solidFill>
            <a:srgbClr val="FFE7A5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04455" y="1252728"/>
            <a:ext cx="164592" cy="585216"/>
          </a:xfrm>
          <a:prstGeom prst="roundRect">
            <a:avLst/>
          </a:prstGeom>
          <a:solidFill>
            <a:srgbClr val="FFE7A5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14978" y="1803399"/>
            <a:ext cx="2651760" cy="457200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63035" y="193141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202124"/>
                </a:solidFill>
                <a:latin typeface="Microsoft YaHei"/>
              </a:rPr>
              <a:t>Wenzhou Kean University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379" y="2880360"/>
            <a:ext cx="8707013" cy="1051560"/>
          </a:xfrm>
          <a:prstGeom prst="roundRect">
            <a:avLst/>
          </a:prstGeom>
          <a:solidFill>
            <a:srgbClr val="FFFDF9"/>
          </a:solidFill>
          <a:ln w="20320">
            <a:solidFill>
              <a:srgbClr val="DB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45535" y="3054096"/>
            <a:ext cx="9144" cy="731520"/>
          </a:xfrm>
          <a:prstGeom prst="rect">
            <a:avLst/>
          </a:prstGeom>
          <a:solidFill>
            <a:srgbClr val="DB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98464" y="3054096"/>
            <a:ext cx="9144" cy="731520"/>
          </a:xfrm>
          <a:prstGeom prst="rect">
            <a:avLst/>
          </a:prstGeom>
          <a:solidFill>
            <a:srgbClr val="DB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0313" y="2956881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666B70"/>
                </a:solidFill>
                <a:latin typeface="Arial"/>
              </a:rPr>
              <a:t>这次不只是讲</a:t>
            </a:r>
            <a:endParaRPr sz="1000" b="0" dirty="0">
              <a:solidFill>
                <a:srgbClr val="666B70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3776" y="3122195"/>
            <a:ext cx="25968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 err="1">
                <a:solidFill>
                  <a:srgbClr val="202124"/>
                </a:solidFill>
                <a:latin typeface="Microsoft YaHei"/>
              </a:rPr>
              <a:t>讲座</a:t>
            </a:r>
            <a:r>
              <a:rPr sz="1800" b="1" dirty="0">
                <a:solidFill>
                  <a:srgbClr val="202124"/>
                </a:solidFill>
                <a:latin typeface="Microsoft YaHei"/>
              </a:rPr>
              <a:t> + Workshop + </a:t>
            </a:r>
            <a:r>
              <a:rPr sz="1800" b="1" dirty="0" err="1">
                <a:solidFill>
                  <a:srgbClr val="202124"/>
                </a:solidFill>
                <a:latin typeface="Microsoft YaHei"/>
              </a:rPr>
              <a:t>实操产出</a:t>
            </a:r>
            <a:endParaRPr sz="1800" b="1" dirty="0">
              <a:solidFill>
                <a:srgbClr val="202124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3679257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666B70"/>
                </a:solidFill>
                <a:latin typeface="Microsoft YaHei"/>
              </a:rPr>
              <a:t>从理解、实操到产出，完整走一遍</a:t>
            </a:r>
            <a:r>
              <a:rPr sz="950" b="0" dirty="0">
                <a:solidFill>
                  <a:srgbClr val="666B70"/>
                </a:solidFill>
                <a:latin typeface="Microsoft YaHei"/>
              </a:rPr>
              <a:t> AI </a:t>
            </a:r>
            <a:r>
              <a:rPr sz="950" b="0" dirty="0" err="1">
                <a:solidFill>
                  <a:srgbClr val="666B70"/>
                </a:solidFill>
                <a:latin typeface="Microsoft YaHei"/>
              </a:rPr>
              <a:t>落地过程</a:t>
            </a:r>
            <a:r>
              <a:rPr sz="950" b="0" dirty="0">
                <a:solidFill>
                  <a:srgbClr val="666B70"/>
                </a:solidFill>
                <a:latin typeface="Microsoft YaHei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0329" y="2969259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666B70"/>
                </a:solidFill>
                <a:latin typeface="Arial"/>
              </a:rPr>
              <a:t>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7" y="3209543"/>
            <a:ext cx="25968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 err="1">
                <a:solidFill>
                  <a:srgbClr val="202124"/>
                </a:solidFill>
                <a:latin typeface="Microsoft YaHei"/>
              </a:rPr>
              <a:t>开放参与</a:t>
            </a:r>
            <a:endParaRPr sz="1800" b="1" dirty="0">
              <a:solidFill>
                <a:srgbClr val="202124"/>
              </a:solidFill>
              <a:latin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24912" y="3481323"/>
            <a:ext cx="3099816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666B70"/>
                </a:solidFill>
                <a:latin typeface="Microsoft YaHei"/>
              </a:rPr>
              <a:t>全校及社会所有对</a:t>
            </a:r>
            <a:r>
              <a:rPr sz="950" b="0" dirty="0">
                <a:solidFill>
                  <a:srgbClr val="666B70"/>
                </a:solidFill>
                <a:latin typeface="Microsoft YaHei"/>
              </a:rPr>
              <a:t> AI </a:t>
            </a:r>
            <a:r>
              <a:rPr sz="950" b="0" dirty="0" err="1">
                <a:solidFill>
                  <a:srgbClr val="666B70"/>
                </a:solidFill>
                <a:latin typeface="Microsoft YaHei"/>
              </a:rPr>
              <a:t>感兴趣的人，不限专业背景</a:t>
            </a:r>
            <a:r>
              <a:rPr sz="950" b="0" dirty="0">
                <a:solidFill>
                  <a:srgbClr val="666B70"/>
                </a:solidFill>
                <a:latin typeface="Microsoft YaHei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054096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B70"/>
                </a:solidFill>
                <a:latin typeface="Arial"/>
              </a:rPr>
              <a:t>Why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5" y="3218688"/>
            <a:ext cx="25968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 err="1">
                <a:solidFill>
                  <a:srgbClr val="202124"/>
                </a:solidFill>
                <a:latin typeface="Microsoft YaHei"/>
              </a:rPr>
              <a:t>真正落地</a:t>
            </a:r>
            <a:endParaRPr sz="1800" b="1" dirty="0">
              <a:solidFill>
                <a:srgbClr val="202124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63055" y="3621024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6B70"/>
                </a:solidFill>
                <a:latin typeface="Microsoft YaHei"/>
              </a:rPr>
              <a:t>从科研工作流到模型微调与部署，让 AI 走到可运行的应用。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4096512"/>
            <a:ext cx="1463040" cy="310896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4151376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02124"/>
                </a:solidFill>
                <a:latin typeface="Consolas"/>
              </a:rPr>
              <a:t>Not just talk. Build on site.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4571999"/>
            <a:ext cx="3794760" cy="4151489"/>
          </a:xfrm>
          <a:prstGeom prst="roundRect">
            <a:avLst/>
          </a:prstGeom>
          <a:solidFill>
            <a:srgbClr val="FFFDF9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928615" y="4562855"/>
            <a:ext cx="3794760" cy="146304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56631" y="4773168"/>
            <a:ext cx="868680" cy="384048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56631" y="4828031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4285F4"/>
                </a:solidFill>
                <a:latin typeface="Arial"/>
              </a:rPr>
              <a:t>Opening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2361" y="5133265"/>
            <a:ext cx="346557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02124"/>
                </a:solidFill>
                <a:latin typeface="Microsoft YaHei"/>
              </a:rPr>
              <a:t>活动开场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1" y="5687568"/>
            <a:ext cx="3465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Consolas"/>
              </a:rPr>
              <a:t>KICKOFF &amp; OVERVIEW</a:t>
            </a:r>
          </a:p>
        </p:txBody>
      </p:sp>
      <p:sp>
        <p:nvSpPr>
          <p:cNvPr id="32" name="Oval 31"/>
          <p:cNvSpPr/>
          <p:nvPr/>
        </p:nvSpPr>
        <p:spPr>
          <a:xfrm>
            <a:off x="5074920" y="6135624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57800" y="60716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 err="1">
                <a:solidFill>
                  <a:srgbClr val="202124"/>
                </a:solidFill>
                <a:latin typeface="Microsoft YaHei"/>
              </a:rPr>
              <a:t>领导嘉宾发言</a:t>
            </a:r>
            <a:endParaRPr sz="1500" b="1" dirty="0">
              <a:solidFill>
                <a:srgbClr val="202124"/>
              </a:solidFill>
              <a:latin typeface="Microsoft Ya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57800" y="6327648"/>
            <a:ext cx="32278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666B70"/>
                </a:solidFill>
                <a:latin typeface="Microsoft YaHei"/>
              </a:rPr>
              <a:t>邀请领导与嘉宾为本次</a:t>
            </a:r>
            <a:r>
              <a:rPr sz="1050" b="0" dirty="0">
                <a:solidFill>
                  <a:srgbClr val="666B70"/>
                </a:solidFill>
                <a:latin typeface="Microsoft YaHei"/>
              </a:rPr>
              <a:t> Build with AI </a:t>
            </a:r>
            <a:r>
              <a:rPr sz="1050" b="0" dirty="0" err="1">
                <a:solidFill>
                  <a:srgbClr val="666B70"/>
                </a:solidFill>
                <a:latin typeface="Microsoft YaHei"/>
              </a:rPr>
              <a:t>致辞，建立现场氛围并点明活动主题</a:t>
            </a:r>
            <a:r>
              <a:rPr sz="1050" b="0" dirty="0">
                <a:solidFill>
                  <a:srgbClr val="666B70"/>
                </a:solidFill>
                <a:latin typeface="Microsoft YaHei"/>
              </a:rPr>
              <a:t>。</a:t>
            </a:r>
          </a:p>
        </p:txBody>
      </p:sp>
      <p:sp>
        <p:nvSpPr>
          <p:cNvPr id="35" name="Oval 34"/>
          <p:cNvSpPr/>
          <p:nvPr/>
        </p:nvSpPr>
        <p:spPr>
          <a:xfrm>
            <a:off x="5074920" y="6848856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57800" y="678484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AI Agent 引入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7040880"/>
            <a:ext cx="32278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666B70"/>
                </a:solidFill>
                <a:latin typeface="Microsoft YaHei"/>
              </a:rPr>
              <a:t>通过贴近场景的方式引入</a:t>
            </a:r>
            <a:r>
              <a:rPr sz="1050" b="0" dirty="0">
                <a:solidFill>
                  <a:srgbClr val="666B70"/>
                </a:solidFill>
                <a:latin typeface="Microsoft YaHei"/>
              </a:rPr>
              <a:t> AI agent </a:t>
            </a:r>
            <a:r>
              <a:rPr sz="1050" b="0" dirty="0" err="1">
                <a:solidFill>
                  <a:srgbClr val="666B70"/>
                </a:solidFill>
                <a:latin typeface="Microsoft YaHei"/>
              </a:rPr>
              <a:t>概念，帮助大家快速进入今天的主题语境</a:t>
            </a:r>
            <a:r>
              <a:rPr sz="1050" b="0" dirty="0">
                <a:solidFill>
                  <a:srgbClr val="666B70"/>
                </a:solidFill>
                <a:latin typeface="Microsoft YaHei"/>
              </a:rPr>
              <a:t>。</a:t>
            </a:r>
          </a:p>
        </p:txBody>
      </p:sp>
      <p:sp>
        <p:nvSpPr>
          <p:cNvPr id="38" name="Oval 37"/>
          <p:cNvSpPr/>
          <p:nvPr/>
        </p:nvSpPr>
        <p:spPr>
          <a:xfrm>
            <a:off x="5074920" y="7562088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7800" y="7498079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活动内容概述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6631" y="7484364"/>
            <a:ext cx="32278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666B70"/>
                </a:solidFill>
                <a:latin typeface="Microsoft YaHei"/>
              </a:rPr>
              <a:t>介绍整场活动结构、互动方式与现场实践安排，让参与路径更清晰</a:t>
            </a:r>
            <a:r>
              <a:rPr sz="1050" b="0" dirty="0">
                <a:solidFill>
                  <a:srgbClr val="666B70"/>
                </a:solidFill>
                <a:latin typeface="Microsoft YaHei"/>
              </a:rPr>
              <a:t>。</a:t>
            </a:r>
          </a:p>
        </p:txBody>
      </p:sp>
      <p:sp>
        <p:nvSpPr>
          <p:cNvPr id="41" name="Oval 40"/>
          <p:cNvSpPr/>
          <p:nvPr/>
        </p:nvSpPr>
        <p:spPr>
          <a:xfrm>
            <a:off x="5074920" y="8275319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57800" y="8211311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AI 知识分享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8467343"/>
            <a:ext cx="32278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666B70"/>
                </a:solidFill>
                <a:latin typeface="Microsoft YaHei"/>
              </a:rPr>
              <a:t>建立基础认知，帮助不同背景的参与者都能顺畅进入后续内容</a:t>
            </a:r>
            <a:r>
              <a:rPr sz="1050" b="0" dirty="0">
                <a:solidFill>
                  <a:srgbClr val="666B70"/>
                </a:solidFill>
                <a:latin typeface="Microsoft YaHei"/>
              </a:rPr>
              <a:t>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623559"/>
            <a:ext cx="3886200" cy="3401567"/>
          </a:xfrm>
          <a:prstGeom prst="roundRect">
            <a:avLst/>
          </a:prstGeom>
          <a:solidFill>
            <a:srgbClr val="FFFDF9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11480" y="5623560"/>
            <a:ext cx="3886200" cy="146304"/>
          </a:xfrm>
          <a:prstGeom prst="round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76072" y="5824728"/>
            <a:ext cx="868680" cy="384048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6072" y="5879592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9AB00"/>
                </a:solidFill>
                <a:latin typeface="Arial"/>
              </a:rPr>
              <a:t>Sharing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" y="6300216"/>
            <a:ext cx="35570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02124"/>
                </a:solidFill>
                <a:latin typeface="Microsoft YaHei"/>
              </a:rPr>
              <a:t>AI 知识分享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739128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Consolas"/>
              </a:rPr>
              <a:t>FRONTIER + RESEARCH WORKFLOW</a:t>
            </a:r>
          </a:p>
        </p:txBody>
      </p:sp>
      <p:sp>
        <p:nvSpPr>
          <p:cNvPr id="50" name="Oval 49"/>
          <p:cNvSpPr/>
          <p:nvPr/>
        </p:nvSpPr>
        <p:spPr>
          <a:xfrm>
            <a:off x="594360" y="7187184"/>
            <a:ext cx="109728" cy="109728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" y="712317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124"/>
                </a:solidFill>
                <a:latin typeface="Microsoft YaHei"/>
              </a:rPr>
              <a:t>Harness Engineering </a:t>
            </a:r>
            <a:r>
              <a:rPr sz="1500" b="1" dirty="0" err="1">
                <a:solidFill>
                  <a:srgbClr val="202124"/>
                </a:solidFill>
                <a:latin typeface="Microsoft YaHei"/>
              </a:rPr>
              <a:t>深度分享</a:t>
            </a:r>
            <a:endParaRPr sz="1500" b="1" dirty="0">
              <a:solidFill>
                <a:srgbClr val="202124"/>
              </a:solidFill>
              <a:latin typeface="Microsoft YaHe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7379208"/>
            <a:ext cx="33192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从工程视角拆解 AI 系统如何真正被构建出来，看懂能力、架构与落地流程。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900416"/>
            <a:ext cx="109728" cy="109728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240" y="783640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Claude Code 科研实战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8092440"/>
            <a:ext cx="33192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从文献综述到研究洞察，一整套工作流现场跑通，看到 AI 如何服务学习与研究。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71091" y="9248798"/>
            <a:ext cx="3786145" cy="3349720"/>
          </a:xfrm>
          <a:prstGeom prst="roundRect">
            <a:avLst/>
          </a:prstGeom>
          <a:solidFill>
            <a:srgbClr val="FFFDF9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7" name="Rounded Rectangle 56"/>
          <p:cNvSpPr/>
          <p:nvPr/>
        </p:nvSpPr>
        <p:spPr>
          <a:xfrm>
            <a:off x="4700016" y="9232428"/>
            <a:ext cx="3794760" cy="146304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8" name="Rounded Rectangle 57"/>
          <p:cNvSpPr/>
          <p:nvPr/>
        </p:nvSpPr>
        <p:spPr>
          <a:xfrm>
            <a:off x="5122565" y="8990720"/>
            <a:ext cx="868680" cy="384048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138928" y="909335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34A853"/>
                </a:solidFill>
                <a:latin typeface="Arial"/>
              </a:rPr>
              <a:t>Experience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37313" y="9482440"/>
            <a:ext cx="346557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 err="1">
                <a:solidFill>
                  <a:srgbClr val="202124"/>
                </a:solidFill>
                <a:latin typeface="Microsoft YaHei"/>
              </a:rPr>
              <a:t>茶歇与体验</a:t>
            </a:r>
            <a:endParaRPr sz="2600" b="1" dirty="0">
              <a:solidFill>
                <a:srgbClr val="202124"/>
              </a:solidFill>
              <a:latin typeface="Microsoft YaHe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79972" y="9936394"/>
            <a:ext cx="3465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666B70"/>
                </a:solidFill>
                <a:latin typeface="Consolas"/>
              </a:rPr>
              <a:t>CONNECT &amp; INTERACT</a:t>
            </a:r>
          </a:p>
        </p:txBody>
      </p:sp>
      <p:sp>
        <p:nvSpPr>
          <p:cNvPr id="62" name="Oval 61"/>
          <p:cNvSpPr/>
          <p:nvPr/>
        </p:nvSpPr>
        <p:spPr>
          <a:xfrm>
            <a:off x="5074920" y="10276891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48656" y="1023213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 err="1">
                <a:solidFill>
                  <a:srgbClr val="202124"/>
                </a:solidFill>
                <a:latin typeface="Microsoft YaHei"/>
              </a:rPr>
              <a:t>开发者面对面交流</a:t>
            </a:r>
            <a:endParaRPr sz="1500" b="1" dirty="0">
              <a:solidFill>
                <a:srgbClr val="202124"/>
              </a:solidFill>
              <a:latin typeface="Microsoft YaHe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211233" y="10629415"/>
            <a:ext cx="32278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666B70"/>
                </a:solidFill>
                <a:latin typeface="Microsoft YaHei"/>
              </a:rPr>
              <a:t>和讲者、开发者、同学直接交流，获得真实经验与灵感</a:t>
            </a:r>
            <a:r>
              <a:rPr sz="1050" b="0" dirty="0">
                <a:solidFill>
                  <a:srgbClr val="666B70"/>
                </a:solidFill>
                <a:latin typeface="Microsoft YaHei"/>
              </a:rPr>
              <a:t>。</a:t>
            </a:r>
          </a:p>
        </p:txBody>
      </p:sp>
      <p:sp>
        <p:nvSpPr>
          <p:cNvPr id="65" name="Oval 64"/>
          <p:cNvSpPr/>
          <p:nvPr/>
        </p:nvSpPr>
        <p:spPr>
          <a:xfrm>
            <a:off x="5074920" y="11134507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5276087" y="1096077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 err="1">
                <a:solidFill>
                  <a:srgbClr val="202124"/>
                </a:solidFill>
                <a:latin typeface="Microsoft YaHei"/>
              </a:rPr>
              <a:t>技术体验区</a:t>
            </a:r>
            <a:r>
              <a:rPr sz="1500" b="1" dirty="0">
                <a:solidFill>
                  <a:srgbClr val="202124"/>
                </a:solidFill>
                <a:latin typeface="Microsoft YaHei"/>
              </a:rPr>
              <a:t> &amp; AI </a:t>
            </a:r>
            <a:r>
              <a:rPr sz="1500" b="1" dirty="0" err="1">
                <a:solidFill>
                  <a:srgbClr val="202124"/>
                </a:solidFill>
                <a:latin typeface="Microsoft YaHei"/>
              </a:rPr>
              <a:t>互动区</a:t>
            </a:r>
            <a:endParaRPr sz="1500" b="1" dirty="0">
              <a:solidFill>
                <a:srgbClr val="202124"/>
              </a:solidFill>
              <a:latin typeface="Microsoft YaHe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294375" y="11395109"/>
            <a:ext cx="32278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666B70"/>
                </a:solidFill>
                <a:latin typeface="Microsoft YaHei"/>
              </a:rPr>
              <a:t>边聊边试、真正参与，现场上手体验各类</a:t>
            </a:r>
            <a:r>
              <a:rPr sz="1050" b="0" dirty="0">
                <a:solidFill>
                  <a:srgbClr val="666B70"/>
                </a:solidFill>
                <a:latin typeface="Microsoft YaHei"/>
              </a:rPr>
              <a:t> AI </a:t>
            </a:r>
            <a:r>
              <a:rPr sz="1050" b="0" dirty="0" err="1">
                <a:solidFill>
                  <a:srgbClr val="666B70"/>
                </a:solidFill>
                <a:latin typeface="Microsoft YaHei"/>
              </a:rPr>
              <a:t>应用</a:t>
            </a:r>
            <a:r>
              <a:rPr sz="1050" b="0" dirty="0">
                <a:solidFill>
                  <a:srgbClr val="666B70"/>
                </a:solidFill>
                <a:latin typeface="Microsoft YaHei"/>
              </a:rPr>
              <a:t>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8915" y="9957816"/>
            <a:ext cx="4069080" cy="3657600"/>
          </a:xfrm>
          <a:prstGeom prst="roundRect">
            <a:avLst/>
          </a:prstGeom>
          <a:solidFill>
            <a:srgbClr val="FFFDF9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300837" y="9935910"/>
            <a:ext cx="4069080" cy="146304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576072" y="9756648"/>
            <a:ext cx="868680" cy="384048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7784" y="9829801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EA4335"/>
                </a:solidFill>
                <a:latin typeface="Arial"/>
              </a:rPr>
              <a:t>Build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6072" y="10232136"/>
            <a:ext cx="373989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 err="1">
                <a:solidFill>
                  <a:srgbClr val="202124"/>
                </a:solidFill>
                <a:latin typeface="Microsoft YaHei"/>
              </a:rPr>
              <a:t>项目实战</a:t>
            </a:r>
            <a:endParaRPr sz="2600" b="1" dirty="0">
              <a:solidFill>
                <a:srgbClr val="202124"/>
              </a:solidFill>
              <a:latin typeface="Microsoft YaHei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76072" y="1067104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Consolas"/>
              </a:rPr>
              <a:t>HANDS-ON BUILDING</a:t>
            </a:r>
          </a:p>
        </p:txBody>
      </p:sp>
      <p:sp>
        <p:nvSpPr>
          <p:cNvPr id="74" name="Oval 73"/>
          <p:cNvSpPr/>
          <p:nvPr/>
        </p:nvSpPr>
        <p:spPr>
          <a:xfrm>
            <a:off x="594360" y="11119104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7240" y="11055096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Gemma4 × 多设备智能体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11311128"/>
            <a:ext cx="35021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手机 + 大模型协同，让 AI 从“工具”变成“系统”，看到更完整的交互方式。</a:t>
            </a:r>
          </a:p>
        </p:txBody>
      </p:sp>
      <p:sp>
        <p:nvSpPr>
          <p:cNvPr id="77" name="Oval 76"/>
          <p:cNvSpPr/>
          <p:nvPr/>
        </p:nvSpPr>
        <p:spPr>
          <a:xfrm>
            <a:off x="594360" y="11832336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77240" y="1176832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Fine Tuning Gemma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12024359"/>
            <a:ext cx="35021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让模型进一步适配你的数据、任务和具体场景。</a:t>
            </a:r>
          </a:p>
        </p:txBody>
      </p:sp>
      <p:sp>
        <p:nvSpPr>
          <p:cNvPr id="80" name="Oval 79"/>
          <p:cNvSpPr/>
          <p:nvPr/>
        </p:nvSpPr>
        <p:spPr>
          <a:xfrm>
            <a:off x="594360" y="12545567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77240" y="12481559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OpenClaw 部署实操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" y="12737591"/>
            <a:ext cx="35021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从部署到运行，完成一个真正可以跑起来、可以展示的 AI 应用。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56032" y="13716000"/>
            <a:ext cx="8631936" cy="1956816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DB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20624" y="1382572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Microsoft YaHei"/>
              </a:rPr>
              <a:t>联合发起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53312" y="1386230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B70"/>
                </a:solidFill>
                <a:latin typeface="Arial"/>
              </a:rPr>
              <a:t>CO-ORGANIZED BY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20624" y="14173200"/>
            <a:ext cx="1558137" cy="137160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7" name="Picture 86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4209657"/>
            <a:ext cx="1100937" cy="9144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93776" y="15087600"/>
            <a:ext cx="141183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温州肯恩理工学院</a:t>
            </a:r>
          </a:p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计算机科学与技术系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106777" y="14173200"/>
            <a:ext cx="1558137" cy="137160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377" y="14319504"/>
            <a:ext cx="1100937" cy="6583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2179929" y="15087600"/>
            <a:ext cx="141183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Google Developer Groups</a:t>
            </a:r>
          </a:p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温州站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792931" y="14173200"/>
            <a:ext cx="1558137" cy="137160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 92" descr="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531" y="14173200"/>
            <a:ext cx="1100937" cy="102352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866083" y="15124057"/>
            <a:ext cx="141183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0" dirty="0" err="1">
                <a:solidFill>
                  <a:srgbClr val="666B70"/>
                </a:solidFill>
                <a:latin typeface="Microsoft YaHei"/>
              </a:rPr>
              <a:t>温州市软件行业协会</a:t>
            </a:r>
            <a:endParaRPr sz="940" b="0" dirty="0">
              <a:solidFill>
                <a:srgbClr val="666B70"/>
              </a:solidFill>
              <a:latin typeface="Microsoft YaHei"/>
            </a:endParaRPr>
          </a:p>
          <a:p>
            <a:pPr algn="ctr"/>
            <a:r>
              <a:rPr sz="940" b="0" dirty="0" err="1">
                <a:solidFill>
                  <a:srgbClr val="666B70"/>
                </a:solidFill>
                <a:latin typeface="Microsoft YaHei"/>
              </a:rPr>
              <a:t>人工智能专业委员会</a:t>
            </a:r>
            <a:endParaRPr sz="940" b="0" dirty="0">
              <a:solidFill>
                <a:srgbClr val="666B70"/>
              </a:solidFill>
              <a:latin typeface="Microsoft YaHei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5479084" y="14173200"/>
            <a:ext cx="1558137" cy="137160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5630366" y="12655295"/>
            <a:ext cx="1338681" cy="713232"/>
          </a:xfrm>
          <a:prstGeom prst="roundRect">
            <a:avLst/>
          </a:prstGeom>
          <a:solidFill>
            <a:srgbClr val="1E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618890" y="15196728"/>
            <a:ext cx="1411833" cy="144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0" dirty="0" err="1">
                <a:solidFill>
                  <a:srgbClr val="666B70"/>
                </a:solidFill>
                <a:latin typeface="Microsoft YaHei"/>
              </a:rPr>
              <a:t>Datawhale</a:t>
            </a:r>
            <a:endParaRPr sz="940" b="0" dirty="0">
              <a:solidFill>
                <a:srgbClr val="666B70"/>
              </a:solidFill>
              <a:latin typeface="Microsoft YaHei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7165238" y="14173200"/>
            <a:ext cx="1558137" cy="137160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0" name="Picture 99" descr="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270" y="14173200"/>
            <a:ext cx="1100937" cy="9144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7238390" y="15087600"/>
            <a:ext cx="141183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0" dirty="0" err="1">
                <a:solidFill>
                  <a:srgbClr val="666B70"/>
                </a:solidFill>
                <a:latin typeface="Microsoft YaHei"/>
              </a:rPr>
              <a:t>温州肯恩大学</a:t>
            </a:r>
            <a:endParaRPr sz="940" b="0" dirty="0">
              <a:solidFill>
                <a:srgbClr val="666B70"/>
              </a:solidFill>
              <a:latin typeface="Microsoft YaHei"/>
            </a:endParaRPr>
          </a:p>
          <a:p>
            <a:pPr algn="ctr"/>
            <a:r>
              <a:rPr sz="940" b="0" dirty="0">
                <a:solidFill>
                  <a:srgbClr val="666B70"/>
                </a:solidFill>
                <a:latin typeface="Microsoft YaHei"/>
              </a:rPr>
              <a:t>AI </a:t>
            </a:r>
            <a:r>
              <a:rPr sz="940" b="0" dirty="0" err="1">
                <a:solidFill>
                  <a:srgbClr val="666B70"/>
                </a:solidFill>
                <a:latin typeface="Microsoft YaHei"/>
              </a:rPr>
              <a:t>社团</a:t>
            </a:r>
            <a:endParaRPr sz="940" b="0" dirty="0">
              <a:solidFill>
                <a:srgbClr val="666B70"/>
              </a:solidFill>
              <a:latin typeface="Microsoft YaHei"/>
            </a:endParaRPr>
          </a:p>
        </p:txBody>
      </p:sp>
      <p:pic>
        <p:nvPicPr>
          <p:cNvPr id="103" name="图片 102" descr="徽标&#10;&#10;AI 生成的内容可能不正确。">
            <a:extLst>
              <a:ext uri="{FF2B5EF4-FFF2-40B4-BE49-F238E27FC236}">
                <a16:creationId xmlns:a16="http://schemas.microsoft.com/office/drawing/2014/main" id="{01487CB0-7FD1-9A09-EB9F-0B7C64D96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2405" y="14420686"/>
            <a:ext cx="666914" cy="6669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YaHei"/>
              </a:rPr>
              <a:t>标题模块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4980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B70"/>
                </a:solidFill>
                <a:latin typeface="Consolas"/>
              </a:rPr>
              <a:t>Editable title lockup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009851"/>
            <a:ext cx="512064" cy="1911095"/>
          </a:xfrm>
          <a:prstGeom prst="roundRect">
            <a:avLst/>
          </a:prstGeom>
          <a:solidFill>
            <a:srgbClr val="FFE7A5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453896" y="2672791"/>
            <a:ext cx="164592" cy="585216"/>
          </a:xfrm>
          <a:prstGeom prst="roundRect">
            <a:avLst/>
          </a:prstGeom>
          <a:solidFill>
            <a:srgbClr val="FFE7A5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15667" y="1828800"/>
            <a:ext cx="3017520" cy="955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40" b="1">
                <a:solidFill>
                  <a:srgbClr val="202124"/>
                </a:solidFill>
                <a:latin typeface="Arial Black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5667" y="2734056"/>
            <a:ext cx="3268980" cy="955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40" b="1">
                <a:solidFill>
                  <a:srgbClr val="202124"/>
                </a:solidFill>
                <a:latin typeface="Arial Black"/>
              </a:rPr>
              <a:t>with AI</a:t>
            </a:r>
          </a:p>
        </p:txBody>
      </p:sp>
      <p:sp>
        <p:nvSpPr>
          <p:cNvPr id="8" name="Hexagon 7"/>
          <p:cNvSpPr/>
          <p:nvPr/>
        </p:nvSpPr>
        <p:spPr>
          <a:xfrm>
            <a:off x="4701844" y="2029968"/>
            <a:ext cx="623620" cy="623620"/>
          </a:xfrm>
          <a:prstGeom prst="hexagon">
            <a:avLst/>
          </a:prstGeom>
          <a:solidFill>
            <a:srgbClr val="4285F4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iamond 8"/>
          <p:cNvSpPr/>
          <p:nvPr/>
        </p:nvSpPr>
        <p:spPr>
          <a:xfrm>
            <a:off x="4862779" y="2190902"/>
            <a:ext cx="301752" cy="301752"/>
          </a:xfrm>
          <a:prstGeom prst="diamond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89320" y="2009851"/>
            <a:ext cx="512064" cy="1911095"/>
          </a:xfrm>
          <a:prstGeom prst="roundRect">
            <a:avLst/>
          </a:prstGeom>
          <a:solidFill>
            <a:srgbClr val="FFE7A5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43016" y="2672791"/>
            <a:ext cx="164592" cy="585216"/>
          </a:xfrm>
          <a:prstGeom prst="roundRect">
            <a:avLst/>
          </a:prstGeom>
          <a:solidFill>
            <a:srgbClr val="FFE7A5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67128" y="3840480"/>
            <a:ext cx="2916936" cy="502920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67128" y="3895344"/>
            <a:ext cx="29169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202124"/>
                </a:solidFill>
                <a:latin typeface="Microsoft YaHei"/>
              </a:rPr>
              <a:t>Wenzhou Kean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8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66B70"/>
                </a:solidFill>
                <a:latin typeface="Microsoft YaHei"/>
              </a:rPr>
              <a:t>这一页的标题、学校名、徽章和左右括号都可以单独编辑或替换。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YaHei"/>
              </a:rPr>
              <a:t>信息栏模块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4980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B70"/>
                </a:solidFill>
                <a:latin typeface="Consolas"/>
              </a:rPr>
              <a:t>Editable intro information band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8229600" cy="1188720"/>
          </a:xfrm>
          <a:prstGeom prst="roundRect">
            <a:avLst/>
          </a:prstGeom>
          <a:solidFill>
            <a:srgbClr val="FFFDF9"/>
          </a:solidFill>
          <a:ln w="20320">
            <a:solidFill>
              <a:srgbClr val="DB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0" y="1975104"/>
            <a:ext cx="9144" cy="896112"/>
          </a:xfrm>
          <a:prstGeom prst="rect">
            <a:avLst/>
          </a:prstGeom>
          <a:solidFill>
            <a:srgbClr val="DB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0" y="1975104"/>
            <a:ext cx="9144" cy="896112"/>
          </a:xfrm>
          <a:prstGeom prst="rect">
            <a:avLst/>
          </a:prstGeom>
          <a:solidFill>
            <a:srgbClr val="DBD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975104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B70"/>
                </a:solidFill>
                <a:latin typeface="Arial"/>
              </a:rPr>
              <a:t>这次不只是讲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39696"/>
            <a:ext cx="248716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Microsoft YaHei"/>
              </a:rPr>
              <a:t>讲座 + Workshop + 实操产出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542032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6B70"/>
                </a:solidFill>
                <a:latin typeface="Microsoft YaHei"/>
              </a:rPr>
              <a:t>从理解、实操到产出，完整走一遍 AI 落地过程。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975104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B70"/>
                </a:solidFill>
                <a:latin typeface="Arial"/>
              </a:rPr>
              <a:t>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139696"/>
            <a:ext cx="248716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Microsoft YaHei"/>
              </a:rPr>
              <a:t>开放参与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542032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6B70"/>
                </a:solidFill>
                <a:latin typeface="Microsoft YaHei"/>
              </a:rPr>
              <a:t>全校及社会所有对 AI 感兴趣的人，不限专业背景。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1975104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B70"/>
                </a:solidFill>
                <a:latin typeface="Arial"/>
              </a:rPr>
              <a:t>Why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139696"/>
            <a:ext cx="248716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Microsoft YaHei"/>
              </a:rPr>
              <a:t>真正落地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542032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6B70"/>
                </a:solidFill>
                <a:latin typeface="Microsoft YaHei"/>
              </a:rPr>
              <a:t>从科研工作流到模型微调与部署，让 AI 走到可运行的应用。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66B70"/>
                </a:solidFill>
                <a:latin typeface="Microsoft YaHei"/>
              </a:rPr>
              <a:t>适合自己修改为时间、地点、面向对象、活动卖点等概述信息。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YaHei"/>
              </a:rPr>
              <a:t>开场模块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4980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B70"/>
                </a:solidFill>
                <a:latin typeface="Consolas"/>
              </a:rPr>
              <a:t>Editable opening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4663440"/>
          </a:xfrm>
          <a:prstGeom prst="roundRect">
            <a:avLst/>
          </a:prstGeom>
          <a:solidFill>
            <a:srgbClr val="FFFDF9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146304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78992" y="2029968"/>
            <a:ext cx="868680" cy="384048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084832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285F4"/>
                </a:solidFill>
                <a:latin typeface="Arial"/>
              </a:rPr>
              <a:t>Opening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505456"/>
            <a:ext cx="69860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02124"/>
                </a:solidFill>
                <a:latin typeface="Microsoft YaHei"/>
              </a:rPr>
              <a:t>活动开场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44368"/>
            <a:ext cx="6986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Consolas"/>
              </a:rPr>
              <a:t>KICKOFF &amp; OVERVIEW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392423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328415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领导嘉宾发言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84448"/>
            <a:ext cx="67482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邀请领导与嘉宾为本次 Build with AI 致辞，建立现场氛围并点明活动主题。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105656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04164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AI Agent 引入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97680"/>
            <a:ext cx="67482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通过贴近场景的方式引入 AI agent 概念，帮助大家快速进入今天的主题语境。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818888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754880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活动内容概述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010912"/>
            <a:ext cx="67482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介绍整场活动结构、互动方式与现场实践安排，让参与路径更清晰。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5532120"/>
            <a:ext cx="109728" cy="10972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468112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AI 知识分享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724144"/>
            <a:ext cx="67482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建立基础认知，帮助不同背景的参与者都能顺畅进入后续内容。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YaHei"/>
              </a:rPr>
              <a:t>分享模块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4980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B70"/>
                </a:solidFill>
                <a:latin typeface="Consolas"/>
              </a:rPr>
              <a:t>Editable AI knowledge sharing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7315200" cy="2926080"/>
          </a:xfrm>
          <a:prstGeom prst="roundRect">
            <a:avLst/>
          </a:prstGeom>
          <a:solidFill>
            <a:srgbClr val="FFFDF9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7315200" cy="146304"/>
          </a:xfrm>
          <a:prstGeom prst="round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78992" y="2121408"/>
            <a:ext cx="868680" cy="384048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176272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9AB00"/>
                </a:solidFill>
                <a:latin typeface="Arial"/>
              </a:rPr>
              <a:t>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596896"/>
            <a:ext cx="69860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02124"/>
                </a:solidFill>
                <a:latin typeface="Microsoft YaHei"/>
              </a:rPr>
              <a:t>AI 知识分享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35808"/>
            <a:ext cx="6986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Consolas"/>
              </a:rPr>
              <a:t>FRONTIER + RESEARCH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483864"/>
            <a:ext cx="109728" cy="109728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419856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Harness Engineering 深度分享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75888"/>
            <a:ext cx="67482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从工程视角拆解 AI 系统如何真正被构建出来，看懂能力、架构与落地流程。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197096"/>
            <a:ext cx="109728" cy="109728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3308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Claude Code 科研实战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389120"/>
            <a:ext cx="67482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从文献综述到研究洞察，一整套工作流现场跑通，看到 AI 如何服务学习与研究。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YaHei"/>
              </a:rPr>
              <a:t>体验模块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4980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B70"/>
                </a:solidFill>
                <a:latin typeface="Consolas"/>
              </a:rPr>
              <a:t>Editable experience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7315200" cy="2834640"/>
          </a:xfrm>
          <a:prstGeom prst="roundRect">
            <a:avLst/>
          </a:prstGeom>
          <a:solidFill>
            <a:srgbClr val="FFFDF9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7315200" cy="146304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78992" y="2121408"/>
            <a:ext cx="868680" cy="384048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176272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34A853"/>
                </a:solidFill>
                <a:latin typeface="Arial"/>
              </a:rP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596896"/>
            <a:ext cx="69860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02124"/>
                </a:solidFill>
                <a:latin typeface="Microsoft YaHei"/>
              </a:rPr>
              <a:t>茶歇与体验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35808"/>
            <a:ext cx="6986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Consolas"/>
              </a:rPr>
              <a:t>CONNECT &amp; INTERACT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483864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419856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开发者面对面交流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75888"/>
            <a:ext cx="67482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和讲者、开发者、同学直接交流，获得真实经验与灵感。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197096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3308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技术体验区 &amp; AI 互动区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389120"/>
            <a:ext cx="67482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边聊边试、真正参与，现场上手体验各类 AI 应用。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YaHei"/>
              </a:rPr>
              <a:t>实战模块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4980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B70"/>
                </a:solidFill>
                <a:latin typeface="Consolas"/>
              </a:rPr>
              <a:t>Editable hands-on building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7498079" cy="4617720"/>
          </a:xfrm>
          <a:prstGeom prst="roundRect">
            <a:avLst/>
          </a:prstGeom>
          <a:solidFill>
            <a:srgbClr val="FFFDF9"/>
          </a:solidFill>
          <a:ln w="2794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7498079" cy="146304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7552" y="1938528"/>
            <a:ext cx="868680" cy="384048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A4335"/>
                </a:solidFill>
                <a:latin typeface="Arial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14015"/>
            <a:ext cx="716889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02124"/>
                </a:solidFill>
                <a:latin typeface="Microsoft YaHei"/>
              </a:rPr>
              <a:t>项目实战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52928"/>
            <a:ext cx="71688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Consolas"/>
              </a:rPr>
              <a:t>HANDS-ON BUILDING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300984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36976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Gemma4 × 多设备智能体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93008"/>
            <a:ext cx="69311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手机 + 大模型协同，让 AI 从“工具”变成“系统”，看到更完整的交互方式。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014216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950208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Fine Tuning Gemma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69311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让模型进一步适配你的数据、任务和具体场景。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727448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YaHei"/>
              </a:rPr>
              <a:t>OpenClaw 部署实操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19472"/>
            <a:ext cx="69311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6B70"/>
                </a:solidFill>
                <a:latin typeface="Microsoft YaHei"/>
              </a:rPr>
              <a:t>从部署到运行，完成一个真正可以跑起来、可以展示的 AI 应用。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YaHei"/>
              </a:rPr>
              <a:t>联合发起模块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4980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B70"/>
                </a:solidFill>
                <a:latin typeface="Consolas"/>
              </a:rPr>
              <a:t>Editable organizer logo strip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28800"/>
            <a:ext cx="8503920" cy="210312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DB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" y="193852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Microsoft YaHei"/>
              </a:rPr>
              <a:t>联合发起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97510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B70"/>
                </a:solidFill>
                <a:latin typeface="Arial"/>
              </a:rPr>
              <a:t>CO-ORGANIZED 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2286000"/>
            <a:ext cx="1532534" cy="1517903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32304"/>
            <a:ext cx="1075334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784" y="3200400"/>
            <a:ext cx="138623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温州肯恩理工学院</a:t>
            </a:r>
          </a:p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计算机科学与技术系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5182" y="2286000"/>
            <a:ext cx="1532534" cy="1517903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782" y="2432304"/>
            <a:ext cx="1075334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18334" y="3200400"/>
            <a:ext cx="138623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Google Developer Groups</a:t>
            </a:r>
          </a:p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温州站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5732" y="2286000"/>
            <a:ext cx="1532534" cy="1517903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332" y="2432304"/>
            <a:ext cx="1075334" cy="658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78884" y="3200400"/>
            <a:ext cx="138623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温州市软件行业协会</a:t>
            </a:r>
          </a:p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人工智能专业委员会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66283" y="2286000"/>
            <a:ext cx="1532534" cy="1517903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576011" y="2423160"/>
            <a:ext cx="1313078" cy="713232"/>
          </a:xfrm>
          <a:prstGeom prst="roundRect">
            <a:avLst/>
          </a:prstGeom>
          <a:solidFill>
            <a:srgbClr val="1E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atawhale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891" y="2487168"/>
            <a:ext cx="947318" cy="5852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39435" y="3200400"/>
            <a:ext cx="138623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Datawhale</a:t>
            </a:r>
          </a:p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开源学习组织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6833" y="2286000"/>
            <a:ext cx="1532534" cy="1517903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5433" y="2432304"/>
            <a:ext cx="1075334" cy="658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99985" y="3200400"/>
            <a:ext cx="138623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温州肯恩大学</a:t>
            </a:r>
          </a:p>
          <a:p>
            <a:pPr algn="ctr"/>
            <a:r>
              <a:rPr sz="940" b="0">
                <a:solidFill>
                  <a:srgbClr val="666B70"/>
                </a:solidFill>
                <a:latin typeface="Microsoft YaHei"/>
              </a:rPr>
              <a:t>AI 社团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YaHei"/>
              </a:rPr>
              <a:t>Logo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4980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B70"/>
                </a:solidFill>
                <a:latin typeface="Consolas"/>
              </a:rPr>
              <a:t>Editable logo source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600200" cy="182880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066543"/>
            <a:ext cx="1307592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" y="2999232"/>
            <a:ext cx="1453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02124"/>
                </a:solidFill>
                <a:latin typeface="Arial"/>
              </a:rPr>
              <a:t>WKU · CSMT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21991" y="1920240"/>
            <a:ext cx="1600200" cy="182880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2066543"/>
            <a:ext cx="1307592" cy="749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95144" y="2999232"/>
            <a:ext cx="1453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02124"/>
                </a:solidFill>
                <a:latin typeface="Arial"/>
              </a:rPr>
              <a:t>GDG Wenzhou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41063" y="1920240"/>
            <a:ext cx="1600200" cy="182880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2066543"/>
            <a:ext cx="1307592" cy="7498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14215" y="2999232"/>
            <a:ext cx="1453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02124"/>
                </a:solidFill>
                <a:latin typeface="Arial"/>
              </a:rPr>
              <a:t>WZSIA ·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0136" y="1920240"/>
            <a:ext cx="1600200" cy="182880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69864" y="2057400"/>
            <a:ext cx="1380744" cy="841248"/>
          </a:xfrm>
          <a:prstGeom prst="roundRect">
            <a:avLst/>
          </a:prstGeom>
          <a:solidFill>
            <a:srgbClr val="1E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datawhale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5" y="2121408"/>
            <a:ext cx="960120" cy="713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33288" y="2999232"/>
            <a:ext cx="1453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02124"/>
                </a:solidFill>
                <a:latin typeface="Arial"/>
              </a:rPr>
              <a:t>Datawhale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9208" y="1920240"/>
            <a:ext cx="1600200" cy="1828800"/>
          </a:xfrm>
          <a:prstGeom prst="roundRect">
            <a:avLst/>
          </a:prstGeom>
          <a:solidFill>
            <a:srgbClr val="FFFDF9"/>
          </a:solidFill>
          <a:ln w="22860"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2066543"/>
            <a:ext cx="1307592" cy="7498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2999232"/>
            <a:ext cx="1453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02124"/>
                </a:solidFill>
                <a:latin typeface="Arial"/>
              </a:rPr>
              <a:t>AI Club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442</Words>
  <Application>Microsoft Office PowerPoint</Application>
  <PresentationFormat>自定义</PresentationFormat>
  <Paragraphs>150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Microsoft YaHei</vt:lpstr>
      <vt:lpstr>Arial</vt:lpstr>
      <vt:lpstr>Arial Black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Liyang Liu</cp:lastModifiedBy>
  <cp:revision>2</cp:revision>
  <dcterms:created xsi:type="dcterms:W3CDTF">2013-01-27T09:14:16Z</dcterms:created>
  <dcterms:modified xsi:type="dcterms:W3CDTF">2026-04-13T16:54:20Z</dcterms:modified>
  <cp:category/>
</cp:coreProperties>
</file>